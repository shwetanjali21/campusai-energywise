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2.png"/><Relationship Id="rId6" Type="http://schemas.openxmlformats.org/officeDocument/2006/relationships/image" Target="../media/image7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Relationship Id="rId6" Type="http://schemas.openxmlformats.org/officeDocument/2006/relationships/image" Target="../media/image45.png"/><Relationship Id="rId7" Type="http://schemas.openxmlformats.org/officeDocument/2006/relationships/image" Target="../media/image46.png"/><Relationship Id="rId8" Type="http://schemas.openxmlformats.org/officeDocument/2006/relationships/image" Target="../media/image47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3.png"/><Relationship Id="rId4" Type="http://schemas.openxmlformats.org/officeDocument/2006/relationships/image" Target="../media/image32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Relationship Id="rId5" Type="http://schemas.openxmlformats.org/officeDocument/2006/relationships/image" Target="../media/image58.png"/><Relationship Id="rId6" Type="http://schemas.openxmlformats.org/officeDocument/2006/relationships/image" Target="../media/image59.png"/><Relationship Id="rId7" Type="http://schemas.openxmlformats.org/officeDocument/2006/relationships/image" Target="../media/image60.png"/><Relationship Id="rId8" Type="http://schemas.openxmlformats.org/officeDocument/2006/relationships/image" Target="../media/image6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2.png"/><Relationship Id="rId5" Type="http://schemas.openxmlformats.org/officeDocument/2006/relationships/image" Target="../media/image63.png"/><Relationship Id="rId6" Type="http://schemas.openxmlformats.org/officeDocument/2006/relationships/image" Target="../media/image6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71700"/>
            <a:ext cx="3695253" cy="2857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647950"/>
            <a:ext cx="6190461" cy="60766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784"/>
              </a:lnSpc>
            </a:pPr>
            <a:r>
              <a:rPr b="1" sz="4350" i="0" u="none">
                <a:solidFill>
                  <a:srgbClr val="0F172A"/>
                </a:solidFill>
                <a:latin typeface="Plus Jakarta Sans"/>
              </a:rPr>
              <a:t>CampusAI EnergyWise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3427065"/>
            <a:ext cx="7086600" cy="3542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90"/>
              </a:lnSpc>
            </a:pPr>
            <a:r>
              <a:rPr b="0" sz="1800" i="0" u="none">
                <a:solidFill>
                  <a:srgbClr val="475569"/>
                </a:solidFill>
                <a:latin typeface="Inter"/>
              </a:rPr>
              <a:t>AI-Powered Campus Energy Optimization &amp; Sustainability Advisor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3425" y="2252662"/>
            <a:ext cx="127545" cy="1238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0100" y="4228951"/>
            <a:ext cx="2924175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Shwetanjali Gautam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4495651"/>
            <a:ext cx="2924175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Birla Institute of Technology (BIT), Mesra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Actionable Campus Sustainability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28862"/>
            <a:ext cx="533400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Campus energy data is frequently logged as raw readings, but translating numerical spikes into timely, understandable action remains a key operational bottleneck.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71550" y="3272135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Numerical &amp; GenAI Synthesis: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Combines statistical anomaly detection with plain-language recommendations.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3945433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Prototype Scope: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Focuses on Academic, Hostel, and Laboratory blocks using synthetic baseline data.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618732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Human-in-the-Loop: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AI serves as a decision-support advisor; facility staff approve interventions.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86422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959721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4633019"/>
            <a:ext cx="26670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Project Overview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66639"/>
            <a:ext cx="3524250" cy="322004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166639"/>
            <a:ext cx="3524250" cy="322004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166639"/>
            <a:ext cx="3524250" cy="3220045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1025" y="3757612"/>
            <a:ext cx="3505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442864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128664"/>
            <a:ext cx="312039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Primary: SDG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490614"/>
            <a:ext cx="297180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Affordable &amp; Clean Energy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3855839"/>
            <a:ext cx="2971800" cy="12546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Directly addresses Target 7.3 by doubling the global rate of improvement in energy efficiency through intelligent building energy management.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3757612"/>
            <a:ext cx="3505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442864"/>
            <a:ext cx="514350" cy="5143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610100" y="3128664"/>
            <a:ext cx="312039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Secondary: SDG 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0100" y="3490614"/>
            <a:ext cx="297180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Responsible Consumption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0100" y="3855839"/>
            <a:ext cx="2971800" cy="100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Promotes sustainable campus operations and efficient resource consumption by eliminating unnecessary electricity wastage.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5775" y="3757612"/>
            <a:ext cx="3505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2475" y="2442864"/>
            <a:ext cx="514350" cy="5143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372475" y="3128664"/>
            <a:ext cx="312039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Supporting: SDG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2475" y="3490614"/>
            <a:ext cx="297180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Climate Action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2475" y="3855839"/>
            <a:ext cx="2971800" cy="100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Converts measured energy savings into quantifiable greenhouse gas emission reductions using regional grid emissions factors.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362" y="2576214"/>
            <a:ext cx="21907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43450" y="2576214"/>
            <a:ext cx="247650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05825" y="2576214"/>
            <a:ext cx="247650" cy="24765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UN SDG Alignment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72754"/>
            <a:ext cx="5334000" cy="300781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72754"/>
            <a:ext cx="5334000" cy="300781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5825" y="2587079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47857"/>
                </a:solidFill>
                <a:latin typeface="Plus Jakarta Sans SemiBold"/>
              </a:rPr>
              <a:t>Core Problem 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2949029"/>
            <a:ext cx="4705350" cy="11215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208"/>
              </a:lnSpc>
            </a:pPr>
            <a:r>
              <a:rPr b="0" sz="1425" i="0" u="none">
                <a:solidFill>
                  <a:srgbClr val="0F172A"/>
                </a:solidFill>
                <a:latin typeface="Inter Medium"/>
              </a:rPr>
              <a:t>"How might we use AI to identify campus energy-use patterns and generate responsible, actionable recommendations so buildings can operate efficiently?"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4213473"/>
            <a:ext cx="47053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Educational institutions consume significant electrical energy across various facility types, but lack real-time context to act swiftly on anomalies.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2587079"/>
            <a:ext cx="4940617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47857"/>
                </a:solidFill>
                <a:latin typeface="Plus Jakarta Sans SemiBold"/>
              </a:rPr>
              <a:t>The Operational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949029"/>
            <a:ext cx="4705350" cy="100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Raw meter logs and spreadsheet exports state </a:t>
            </a:r>
            <a:r>
              <a:rPr b="0" sz="1275" i="1" u="none">
                <a:solidFill>
                  <a:srgbClr val="334155"/>
                </a:solidFill>
                <a:latin typeface="Inter"/>
              </a:rPr>
              <a:t>what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was consumed, but fail to explain </a:t>
            </a:r>
            <a:r>
              <a:rPr b="0" sz="1275" i="1" u="none">
                <a:solidFill>
                  <a:srgbClr val="334155"/>
                </a:solidFill>
                <a:latin typeface="Inter"/>
              </a:rPr>
              <a:t>why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abnormal consumption occurred or </a:t>
            </a:r>
            <a:r>
              <a:rPr b="0" sz="1275" i="1" u="none">
                <a:solidFill>
                  <a:srgbClr val="334155"/>
                </a:solidFill>
                <a:latin typeface="Inter"/>
              </a:rPr>
              <a:t>what steps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facility managers should take immediately.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4067026"/>
            <a:ext cx="47053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Without contextual guidance, energy waste persists until monthly billing reviews occur.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Problem Statement &amp;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856928"/>
            <a:ext cx="11049000" cy="3839467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81025" y="1866453"/>
          <a:ext cx="11029949" cy="38204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400300"/>
                <a:gridCol w="4316313"/>
                <a:gridCol w="4313336"/>
              </a:tblGrid>
              <a:tr h="764083"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User Persona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Primary Responsibility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FFFFFF"/>
                          </a:solidFill>
                          <a:latin typeface="Plus Jakarta Sans SemiBold"/>
                        </a:rPr>
                        <a:t>AI Value Proposition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64E3B"/>
                    </a:solidFill>
                  </a:tcPr>
                </a:tc>
              </a:tr>
              <a:tr h="764083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Inter"/>
                        </a:rPr>
                        <a:t>Facility Manager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Reviews building performance &amp; authorizes changes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Instant high-risk alerts &amp; prioritized action plans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4083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Inter"/>
                        </a:rPr>
                        <a:t>Maintenance Team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Investigates HVAC, lighting &amp; hardware faults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Diagnostic insights pinpointing probable root causes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764083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Inter"/>
                        </a:rPr>
                        <a:t>Sustainability Committee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Tracks long-term KPIs &amp; campus policies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Historical efficiency reports &amp; policy auditing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764085">
                <a:tc>
                  <a:txBody>
                    <a:bodyPr/>
                    <a:lstStyle/>
                    <a:p>
                      <a:pPr algn="l"/>
                      <a:r>
                        <a:rPr b="1" sz="1275" i="0" u="none">
                          <a:solidFill>
                            <a:srgbClr val="334155"/>
                          </a:solidFill>
                          <a:latin typeface="Inter"/>
                        </a:rPr>
                        <a:t>Students &amp; Staff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Occupies campus facilities daily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75" i="0" u="none">
                          <a:solidFill>
                            <a:srgbClr val="334155"/>
                          </a:solidFill>
                          <a:latin typeface="Inter"/>
                        </a:rPr>
                        <a:t>Fosters sustainability culture &amp; transparent reporting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81025" y="2417415"/>
            <a:ext cx="2400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981325" y="2417415"/>
            <a:ext cx="4316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97638" y="2417415"/>
            <a:ext cx="43133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81025" y="3233588"/>
            <a:ext cx="2400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981325" y="3233588"/>
            <a:ext cx="4316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297638" y="3233588"/>
            <a:ext cx="43133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4049762"/>
            <a:ext cx="2400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81325" y="4049762"/>
            <a:ext cx="4316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297638" y="4049762"/>
            <a:ext cx="43133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81025" y="4865935"/>
            <a:ext cx="24003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981325" y="4865935"/>
            <a:ext cx="4316313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297638" y="4865935"/>
            <a:ext cx="431333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Target Users &amp; Responsibilities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1550" y="1966912"/>
            <a:ext cx="493395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Multi-Factor Pattern Recognition: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Correlates energy consumption with occupancy %, ambient temperature, and facility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2891135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Baseline Demand Prediction: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Projects expected baseline load based on historical observations to detect subtle drift.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1550" y="3564433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Generative AI Synthesis: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Converts numerical data into clear, natural language explanations and prioritized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1550" y="4237732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Automated Orchestration: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n8n workflows automate data ingestion, prompt building, and reporting seamlessness.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1981200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905422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578721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252019"/>
            <a:ext cx="23812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Why AI Integration?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01788"/>
            <a:ext cx="5334000" cy="274974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401788"/>
            <a:ext cx="5334000" cy="274974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5825" y="3694211"/>
            <a:ext cx="4705350" cy="1143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0825" y="3443287"/>
            <a:ext cx="4705350" cy="1143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5825" y="2716113"/>
            <a:ext cx="4940617" cy="266700"/>
          </a:xfrm>
          <a:prstGeom prst="rect">
            <a:avLst/>
          </a:prstGeom>
          <a:noFill/>
        </p:spPr>
        <p:txBody>
          <a:bodyPr wrap="square" lIns="30480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47857"/>
                </a:solidFill>
                <a:latin typeface="Plus Jakarta Sans SemiBold"/>
              </a:rPr>
              <a:t>Pipeline Input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078063"/>
            <a:ext cx="47053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Structured observations ingested via CSV or live API streams: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2716113"/>
            <a:ext cx="4940617" cy="266700"/>
          </a:xfrm>
          <a:prstGeom prst="rect">
            <a:avLst/>
          </a:prstGeom>
          <a:noFill/>
        </p:spPr>
        <p:txBody>
          <a:bodyPr wrap="square" lIns="333375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47857"/>
                </a:solidFill>
                <a:latin typeface="Plus Jakarta Sans SemiBold"/>
              </a:rPr>
              <a:t>AI Diagnostic 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825" y="3078063"/>
            <a:ext cx="47053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Structured JSON response for decision-support logging: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5825" y="2754213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00825" y="2754213"/>
            <a:ext cx="238125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System Input &amp; Output Architecture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62412"/>
            <a:ext cx="2541240" cy="104953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54746"/>
            <a:ext cx="2541240" cy="12361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62412"/>
            <a:ext cx="2541240" cy="104953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441376"/>
            <a:ext cx="2541240" cy="104953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576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525" y="4262437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47857"/>
                </a:solidFill>
                <a:latin typeface="Plus Jakarta Sans SemiBold"/>
              </a:rPr>
              <a:t>1. Ingest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38662"/>
            <a:ext cx="214119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Receive observation record or batch CSV file via n8n webhook.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444" y="2454771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47857"/>
                </a:solidFill>
                <a:latin typeface="Plus Jakarta Sans SemiBold"/>
              </a:rPr>
              <a:t>2. Normalize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730996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Validate data types, handle missing values, and scale features.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364" y="4262437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47857"/>
                </a:solidFill>
                <a:latin typeface="Plus Jakarta Sans SemiBold"/>
              </a:rPr>
              <a:t>3. AI Prediction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538662"/>
            <a:ext cx="214119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Run baseline predictive model to flag statistical anomalies.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9284" y="2641401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47857"/>
                </a:solidFill>
                <a:latin typeface="Plus Jakarta Sans SemiBold"/>
              </a:rPr>
              <a:t>4. GenAI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917626"/>
            <a:ext cx="2141190" cy="373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Construct structured context prompt with system guardrails.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End-to-End Prototype Workflow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6718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3265" y="36718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9184" y="36718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5104" y="36718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757487"/>
            <a:ext cx="5334000" cy="20383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57250" y="3138487"/>
            <a:ext cx="4762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00"/>
              </a:lnSpc>
            </a:pPr>
            <a:r>
              <a:rPr b="0" sz="7500" i="0" u="none">
                <a:solidFill>
                  <a:srgbClr val="34D399"/>
                </a:solidFill>
                <a:latin typeface="Plus Jakarta Sans ExtraBold"/>
              </a:rPr>
              <a:t>100%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7250" y="4186237"/>
            <a:ext cx="47625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F0FDF4"/>
                </a:solidFill>
                <a:latin typeface="Inter SemiBold"/>
              </a:rPr>
              <a:t>Human Operational Authority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86500" y="2263378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System Prompt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625328"/>
            <a:ext cx="533400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Role Definition: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You are a sustainability decision-support assistant for university facility operations.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86550" y="3270051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Zero Unsubstantiated Claims: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Strictly prohibits claiming unverified energy or cost savings.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86550" y="3943350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No Autonomous Switching: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Prevents direct AI control over electrical or laboratory hardware.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86550" y="4616648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Enforced Schema: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Guarantees structured output fields for seamless system integration.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3284339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3957637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6500" y="4630935"/>
            <a:ext cx="266700" cy="21907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AI Prompt Engineering &amp; Guardrails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908696"/>
            <a:ext cx="5286375" cy="127396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550693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Laboratory Block Scenario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71500" y="1171575"/>
            <a:ext cx="55506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Live Demonstration Instance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1533525"/>
            <a:ext cx="5286375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Observation Inputs: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Occupancy: 22% | Ambient Temp: 31.2 °C | Energy: 1,430 kWh/day.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149673"/>
            <a:ext cx="5286375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334155"/>
                </a:solidFill>
                <a:latin typeface="Inter"/>
              </a:rPr>
              <a:t>AI Diagnostic Response: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High energy consumption flagged relative to low off-peak occupancy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575" y="3089671"/>
            <a:ext cx="5090636" cy="190500"/>
          </a:xfrm>
          <a:prstGeom prst="rect">
            <a:avLst/>
          </a:prstGeom>
          <a:noFill/>
        </p:spPr>
        <p:txBody>
          <a:bodyPr wrap="square" lIns="11430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47857"/>
                </a:solidFill>
                <a:latin typeface="Inter"/>
              </a:rPr>
              <a:t>Recommended Interventions: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575" y="3337321"/>
            <a:ext cx="4848225" cy="664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43"/>
              </a:lnSpc>
            </a:pPr>
            <a:r>
              <a:rPr b="0" sz="1125" i="0" u="none">
                <a:solidFill>
                  <a:srgbClr val="065F46"/>
                </a:solidFill>
                <a:latin typeface="Inter"/>
              </a:rPr>
              <a:t>1. Audit HVAC cooling schedule for overnight override.</a:t>
            </a:r>
            <a:r>
              <a:t>
</a:t>
            </a:r>
            <a:r>
              <a:rPr b="0" sz="1125" i="0" u="none">
                <a:solidFill>
                  <a:srgbClr val="065F46"/>
                </a:solidFill>
                <a:latin typeface="Inter"/>
              </a:rPr>
              <a:t> 2. Inspect lab equipment standby power protocols.</a:t>
            </a:r>
            <a:r>
              <a:t>
</a:t>
            </a:r>
            <a:r>
              <a:rPr b="0" sz="1125" i="0" u="none">
                <a:solidFill>
                  <a:srgbClr val="065F46"/>
                </a:solidFill>
                <a:latin typeface="Inter"/>
              </a:rPr>
              <a:t> 3. Require facility manager operational sign-off.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575" y="3108721"/>
            <a:ext cx="114300" cy="152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74714"/>
            <a:ext cx="3524250" cy="260389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3875" y="2474714"/>
            <a:ext cx="3524250" cy="260389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0" y="2474714"/>
            <a:ext cx="3524250" cy="2603896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81025" y="3757612"/>
            <a:ext cx="3505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725" y="2750939"/>
            <a:ext cx="514350" cy="514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47725" y="3436739"/>
            <a:ext cx="312039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Fairness &amp;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725" y="3798689"/>
            <a:ext cx="2971800" cy="100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Uses building-specific historical baselines rather than assuming uniform consumption across diverse facility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757612"/>
            <a:ext cx="3505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10100" y="2750939"/>
            <a:ext cx="514350" cy="514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10100" y="3436739"/>
            <a:ext cx="312039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Transparency &amp; Privacy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0100" y="3798689"/>
            <a:ext cx="2971800" cy="100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Exposes all input variables to reviewers; operates strictly on aggregated building data to protect student privacy.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05775" y="3757612"/>
            <a:ext cx="3505200" cy="3810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72475" y="2750939"/>
            <a:ext cx="514350" cy="5143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372475" y="3436739"/>
            <a:ext cx="312039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Safety &amp; Oversight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2475" y="3798689"/>
            <a:ext cx="2971800" cy="10036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Preserves human oversight for all operational changes; flags missing or implausible data readings automatically.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737" y="2884289"/>
            <a:ext cx="31432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729162" y="2884289"/>
            <a:ext cx="27622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2487" y="2884289"/>
            <a:ext cx="314325" cy="2476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Responsible AI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38675"/>
            <a:ext cx="11049000" cy="628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71575"/>
            <a:ext cx="11049000" cy="52101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Prototype Evaluation Framework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62412"/>
            <a:ext cx="2541240" cy="12361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7419" y="2254746"/>
            <a:ext cx="2541240" cy="123616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3339" y="4062412"/>
            <a:ext cx="2541240" cy="123616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2254746"/>
            <a:ext cx="2541240" cy="1236166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57612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1525" y="4262437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47857"/>
                </a:solidFill>
                <a:latin typeface="Plus Jakarta Sans SemiBold"/>
              </a:rPr>
              <a:t>Short Term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38662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Rapid interpretation of daily energy observations and automated anomaly flagging.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7444" y="2454771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47857"/>
                </a:solidFill>
                <a:latin typeface="Plus Jakarta Sans SemiBold"/>
              </a:rPr>
              <a:t>Medium Term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7444" y="2730996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Identification of recurring schedules to inform HVAC maintenance &amp; shutdown plans.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3364" y="4262437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47857"/>
                </a:solidFill>
                <a:latin typeface="Plus Jakarta Sans SemiBold"/>
              </a:rPr>
              <a:t>Long Term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3364" y="4538662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Direct smart meter API integration supporting continuous real-time optimization.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79284" y="2454771"/>
            <a:ext cx="2248249" cy="219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47857"/>
                </a:solidFill>
                <a:latin typeface="Plus Jakarta Sans SemiBold"/>
              </a:rPr>
              <a:t>Social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730996"/>
            <a:ext cx="2141190" cy="5598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b="0" sz="1050" i="0" u="none">
                <a:solidFill>
                  <a:srgbClr val="475569"/>
                </a:solidFill>
                <a:latin typeface="Inter"/>
              </a:rPr>
              <a:t>Practical AI-for-Good learning model and heightened campus sustainability awareness.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Expected Impact Roadmap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37345" y="36718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573265" y="36718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409184" y="36718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0245104" y="3671887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478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806451"/>
            <a:ext cx="106489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Data Pipeline Integrity: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Systematically test data handling for missing, duplicate, and extreme outlier sensor values.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1550" y="3228826"/>
            <a:ext cx="10648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Statistical Predictive Metrics: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Evaluate model baseline accuracy using (Mean Absolute Error) and metrics on held-out test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71550" y="3902124"/>
            <a:ext cx="106489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Expert Human Review: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Facility management professionals assess AI diagnostic output for practical safety and relevance.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1550" y="4324498"/>
            <a:ext cx="10648950" cy="250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Controlled Pilot Interventions: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Pilot approved HVAC and lighting interventions and measure actual energy before and after.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100" y="3305026"/>
            <a:ext cx="360015" cy="1047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0140" y="3259335"/>
            <a:ext cx="194071" cy="15046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820739"/>
            <a:ext cx="238125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243113"/>
            <a:ext cx="1619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916412"/>
            <a:ext cx="180975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4338786"/>
            <a:ext cx="180975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Testing &amp; Validation Strategy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1966912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Current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2328862"/>
            <a:ext cx="5334000" cy="7527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0" sz="1275" i="0" u="none">
                <a:solidFill>
                  <a:srgbClr val="334155"/>
                </a:solidFill>
                <a:latin typeface="Inter"/>
              </a:rPr>
              <a:t>• Prototype relies on synthetic data; needs live campus meter pilot.</a:t>
            </a:r>
            <a:r>
              <a:t>
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• Precise carbon tracking requires localized electricity emissions grid factors.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3272135"/>
            <a:ext cx="560070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Future Scope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66912"/>
            <a:ext cx="5334000" cy="3619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71550" y="3634085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IoT Meter Integration: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Live telemetry streams and ambient weather API integration.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1550" y="4307383"/>
            <a:ext cx="4933950" cy="5018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76"/>
              </a:lnSpc>
            </a:pPr>
            <a:r>
              <a:rPr b="1" sz="1275" i="0" u="none">
                <a:solidFill>
                  <a:srgbClr val="0F172A"/>
                </a:solidFill>
                <a:latin typeface="Inter"/>
              </a:rPr>
              <a:t>RAG Framework:</a:t>
            </a:r>
            <a:r>
              <a:rPr b="0" sz="1275" i="0" u="none">
                <a:solidFill>
                  <a:srgbClr val="334155"/>
                </a:solidFill>
                <a:latin typeface="Inter"/>
              </a:rPr>
              <a:t> Retrieval-Augmented Generation over campus policies and equipment manuals.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648372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321671"/>
            <a:ext cx="180975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Limitations &amp; Future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595" y="476250"/>
            <a:ext cx="3046809" cy="2857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71812" y="3085951"/>
            <a:ext cx="6048375" cy="438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1000125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64E3B"/>
                </a:solidFill>
                <a:latin typeface="Plus Jakarta Sans"/>
              </a:rPr>
              <a:t>CampusAI EnergyWise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1905000"/>
            <a:ext cx="11049000" cy="32474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57"/>
              </a:lnSpc>
            </a:pPr>
            <a:r>
              <a:rPr b="0" sz="1650" i="0" u="none">
                <a:solidFill>
                  <a:srgbClr val="334155"/>
                </a:solidFill>
                <a:latin typeface="Inter"/>
              </a:rPr>
              <a:t>PPT Presentation | Project Report | Sample CSV Dataset | Python Prototype | n8n Blueprint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372617"/>
            <a:ext cx="11049000" cy="2656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b="0" sz="1350" i="0" u="none">
                <a:solidFill>
                  <a:srgbClr val="047857"/>
                </a:solidFill>
                <a:latin typeface="Inter"/>
              </a:rPr>
              <a:t>Bridging AI and Sustainability for Smart, Energy-Efficient Campuses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34520" y="557212"/>
            <a:ext cx="127545" cy="1238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747837" y="2624137"/>
            <a:ext cx="86963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747837" y="3395662"/>
            <a:ext cx="8696325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747837" y="3386137"/>
            <a:ext cx="8696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747837" y="3386137"/>
            <a:ext cx="8696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47837" y="4157662"/>
            <a:ext cx="8696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47837" y="4157662"/>
            <a:ext cx="8696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7837" y="2767012"/>
            <a:ext cx="857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843212" y="2767310"/>
            <a:ext cx="760095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https://www.preprints.org/frontend/manuscript/c977f3ac63abf0e571d636abc3fe2d18/download_pub/figure/graphic_abstract.jpg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3212" y="3006774"/>
            <a:ext cx="76009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www.preprints.org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47837" y="3538537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843212" y="3538835"/>
            <a:ext cx="760095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https://www.csemag.com/wp-content/uploads/2025/09/CSE2509_MAG_MEP_Medical_School_Lab-1-576x1024.jpg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3212" y="3778299"/>
            <a:ext cx="76009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www.csemag.com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7837" y="431006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843212" y="4310360"/>
            <a:ext cx="7600950" cy="1918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11"/>
              </a:lnSpc>
            </a:pPr>
            <a:r>
              <a:rPr b="0" sz="975" i="0" u="none">
                <a:solidFill>
                  <a:srgbClr val="334155"/>
                </a:solidFill>
                <a:latin typeface="Inter"/>
              </a:rPr>
              <a:t>https://www.mdpi.com/applsci/applsci-16-07346/article_deploy/html/images/applsci-16-07346-g001.png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43212" y="4549824"/>
            <a:ext cx="7600950" cy="2361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60"/>
              </a:lnSpc>
            </a:pPr>
            <a:r>
              <a:rPr b="0" sz="1200" i="0" u="none">
                <a:solidFill>
                  <a:srgbClr val="334155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www.mdpi.com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" y="476250"/>
            <a:ext cx="11601450" cy="4095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064E3B"/>
                </a:solidFill>
                <a:latin typeface="Plus Jakarta Sans"/>
              </a:rPr>
              <a:t>Image 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